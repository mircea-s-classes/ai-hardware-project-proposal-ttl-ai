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948FQjPsJmbqq6de+ci0kkzKs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8D5935-E52F-464B-8744-B34AF1C01012}">
  <a:tblStyle styleId="{B38D5935-E52F-464B-8744-B34AF1C0101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 rate (%)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Raw CNN</c:v>
                  </c:pt>
                  <c:pt idx="1">
                    <c:v>+Morph</c:v>
                  </c:pt>
                  <c:pt idx="2">
                    <c:v>+Motion</c:v>
                  </c:pt>
                  <c:pt idx="3">
                    <c:v>+Size</c:v>
                  </c:pt>
                  <c:pt idx="4">
                    <c:v>+StaticVar</c:v>
                  </c:pt>
                  <c:pt idx="5">
                    <c:v>+Size(3000)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95.1</c:v>
                </c:pt>
                <c:pt idx="1">
                  <c:v>85.6</c:v>
                </c:pt>
                <c:pt idx="2">
                  <c:v>56.2</c:v>
                </c:pt>
                <c:pt idx="3">
                  <c:v>48.8</c:v>
                </c:pt>
                <c:pt idx="4">
                  <c:v>31.4</c:v>
                </c:pt>
                <c:pt idx="5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1660bc530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g3b1660bc530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b1660bc530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16b3e354b_1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b16b3e354b_1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b16b3e354b_1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drive.google.com/file/d/1YEKNoBvaywkBh0dofkN-rjcEJh_h-yNx/view" TargetMode="External"/><Relationship Id="rId4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-8rfTRwKEQA42bS502z47YN9KKN_53iS/view" TargetMode="External"/><Relationship Id="rId4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s_pRHdSkdkvR0lqMEGLqgXs_ZbuUi78l/view" TargetMode="External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685800" y="502920"/>
            <a:ext cx="777240" cy="73152"/>
          </a:xfrm>
          <a:prstGeom prst="rect">
            <a:avLst/>
          </a:prstGeom>
          <a:solidFill>
            <a:srgbClr val="2CB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508760" y="502920"/>
            <a:ext cx="3200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85800" y="603504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400"/>
              <a:buFont typeface="Calibri"/>
              <a:buNone/>
            </a:pPr>
            <a:r>
              <a:rPr b="1" i="0" lang="en-US" sz="4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Raspi5 Bubble Detection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" y="129844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Final project • OpenCV and </a:t>
            </a:r>
            <a:r>
              <a:rPr lang="en-US" sz="1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Trained CNN on Laptop</a:t>
            </a:r>
            <a:r>
              <a:rPr b="0" i="0" lang="en-US" sz="1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• </a:t>
            </a:r>
            <a:r>
              <a:rPr lang="en-US" sz="1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CNN on Raspberry Pi 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85800" y="1737342"/>
            <a:ext cx="5852100" cy="3350700"/>
          </a:xfrm>
          <a:prstGeom prst="roundRect">
            <a:avLst>
              <a:gd fmla="val 16667" name="adj"/>
            </a:avLst>
          </a:prstGeom>
          <a:solidFill>
            <a:srgbClr val="E8F7F6"/>
          </a:solidFill>
          <a:ln cap="flat" cmpd="sng" w="12700">
            <a:solidFill>
              <a:srgbClr val="BFEDE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914400" y="1901948"/>
            <a:ext cx="5394900" cy="29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b="1" i="0" lang="en-US" sz="2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TTL AI</a:t>
            </a:r>
            <a:endParaRPr b="1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b="0" i="0" lang="en-US" sz="2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Landon Campbell — integration &amp; performance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b="0" i="0" lang="en-US" sz="2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Thomas Keyes — open CV </a:t>
            </a:r>
            <a:r>
              <a:rPr lang="en-US" sz="2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r>
              <a:rPr b="0" i="0" lang="en-US" sz="2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&amp; C</a:t>
            </a:r>
            <a:r>
              <a:rPr lang="en-US" sz="2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NN training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b="0" i="0" lang="en-US" sz="2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Tiger Zhang — CV pipeline &amp; CNN training/deployment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" name="Google Shape;25;p1" title="AIH_Bubbles3_FINA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2575" y="2101162"/>
            <a:ext cx="4721251" cy="2655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685800" y="502920"/>
            <a:ext cx="777240" cy="73152"/>
          </a:xfrm>
          <a:prstGeom prst="rect">
            <a:avLst/>
          </a:prstGeom>
          <a:solidFill>
            <a:srgbClr val="2CB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508760" y="502920"/>
            <a:ext cx="3200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85800" y="603504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Problem &amp; Motivation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67800" y="2055443"/>
            <a:ext cx="6035100" cy="27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Mountain bike brakes can trap microscopic air bubbles during bleeding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Bubbles compress → inconsistent lever feel and reduced braking performance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Manual detection is visual + subjective → need quantitative feedback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Goal: on-device processing for a bike-shop friendly tool (no cloud)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930588" y="4777875"/>
            <a:ext cx="3066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Fig. 1 Mountain bike brake bleed with bubble release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8888" y="1921555"/>
            <a:ext cx="4870324" cy="252755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b1660bc530_0_2"/>
          <p:cNvSpPr/>
          <p:nvPr/>
        </p:nvSpPr>
        <p:spPr>
          <a:xfrm>
            <a:off x="685800" y="502920"/>
            <a:ext cx="777300" cy="73200"/>
          </a:xfrm>
          <a:prstGeom prst="rect">
            <a:avLst/>
          </a:prstGeom>
          <a:solidFill>
            <a:srgbClr val="2CB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g3b1660bc530_0_2"/>
          <p:cNvSpPr/>
          <p:nvPr/>
        </p:nvSpPr>
        <p:spPr>
          <a:xfrm>
            <a:off x="1508760" y="502920"/>
            <a:ext cx="320100" cy="73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3b1660bc530_0_2"/>
          <p:cNvSpPr/>
          <p:nvPr/>
        </p:nvSpPr>
        <p:spPr>
          <a:xfrm>
            <a:off x="685800" y="603504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Problem &amp; Motivation Cont.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3b1660bc530_0_2"/>
          <p:cNvSpPr/>
          <p:nvPr/>
        </p:nvSpPr>
        <p:spPr>
          <a:xfrm>
            <a:off x="367800" y="2055453"/>
            <a:ext cx="6035100" cy="3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Additional</a:t>
            </a: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Applications:</a:t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Medical Setting: Current ultrasonic sensors are inconsistent</a:t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■"/>
            </a:pP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Air in IV or blood transfusion lines can cause severe complications</a:t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Industrial fluid &amp; fuel systems - detect air/cavitation</a:t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Manufacturing &amp; packaging - resin, beverage, or hydraulic quality control</a:t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Energy &amp; environment - fuel cells, filtration, water loops</a:t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Generic optical flow sensor - particles, droplets, foam, or contaminants</a:t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b1660bc530_0_2"/>
          <p:cNvSpPr/>
          <p:nvPr/>
        </p:nvSpPr>
        <p:spPr>
          <a:xfrm>
            <a:off x="7930600" y="4777875"/>
            <a:ext cx="30669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Fig 2. Air bubble in an IV 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g3b1660bc530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700" y="2079913"/>
            <a:ext cx="4980900" cy="2698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g3b1660bc530_0_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685800" y="502920"/>
            <a:ext cx="777240" cy="73152"/>
          </a:xfrm>
          <a:prstGeom prst="rect">
            <a:avLst/>
          </a:prstGeom>
          <a:solidFill>
            <a:srgbClr val="2CB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1508760" y="502920"/>
            <a:ext cx="3200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685800" y="603504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Targets (What “Good” Looks Like)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31525" y="1600200"/>
            <a:ext cx="6217800" cy="2235900"/>
          </a:xfrm>
          <a:prstGeom prst="roundRect">
            <a:avLst>
              <a:gd fmla="val 16667" name="adj"/>
            </a:avLst>
          </a:prstGeom>
          <a:solidFill>
            <a:srgbClr val="E8F7F6"/>
          </a:solidFill>
          <a:ln cap="flat" cmpd="sng" w="12700">
            <a:solidFill>
              <a:srgbClr val="BFEDE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845850" y="1347725"/>
            <a:ext cx="66780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How we score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Count stability (per-frame + cumulat</a:t>
            </a: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ive</a:t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False positives (static artifacts removed)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Runtime: Pi CPU vs desktop CPU/GPU </a:t>
            </a: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(ms/frame, FPS)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FP32 vs INT8 latency</a:t>
            </a:r>
            <a:endParaRPr b="0" i="0" sz="1800" u="none" cap="none" strike="noStrike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Pixel mask (Dice) vs manual GT</a:t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9900" y="1600200"/>
            <a:ext cx="4309925" cy="32324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8084514" y="4832650"/>
            <a:ext cx="3380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Fig 3. Camera lighting and syringe setup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685800" y="502920"/>
            <a:ext cx="777240" cy="73152"/>
          </a:xfrm>
          <a:prstGeom prst="rect">
            <a:avLst/>
          </a:prstGeom>
          <a:solidFill>
            <a:srgbClr val="2CB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1508760" y="502920"/>
            <a:ext cx="3200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685800" y="603504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777250" y="1874525"/>
            <a:ext cx="3246000" cy="14256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1005850" y="1974050"/>
            <a:ext cx="27888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OpenCV capture + baseline</a:t>
            </a:r>
            <a:endParaRPr b="1" sz="18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CNN segmentation training (SmallUNet)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Produces probability map</a:t>
            </a:r>
            <a:endParaRPr b="1" i="0" sz="18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732525" y="1874526"/>
            <a:ext cx="2743200" cy="142560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8915400" y="2084832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Outputs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Mask + boxes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Bubble stats + logs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160520" y="2258568"/>
            <a:ext cx="502920" cy="4114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8138160" y="2258568"/>
            <a:ext cx="502920" cy="4114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822960" y="3429000"/>
            <a:ext cx="107899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Same </a:t>
            </a: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post process</a:t>
            </a: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on both paths: morphology + connected components + tracking filters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Interfaces are swappable (CV model ↔ CNN model) for A/B testing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Designed for edge-first: Pi handles camera/IO</a:t>
            </a: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, live CNN application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777800" y="1902076"/>
            <a:ext cx="3246000" cy="142560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5006400" y="2061975"/>
            <a:ext cx="2788800" cy="11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Raspberry Pi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CNN running on live video feed, post processing for video overlay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/>
          <p:nvPr/>
        </p:nvSpPr>
        <p:spPr>
          <a:xfrm>
            <a:off x="685800" y="502920"/>
            <a:ext cx="777240" cy="73152"/>
          </a:xfrm>
          <a:prstGeom prst="rect">
            <a:avLst/>
          </a:prstGeom>
          <a:solidFill>
            <a:srgbClr val="2CB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1508760" y="502920"/>
            <a:ext cx="3200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85800" y="603504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Optics &amp; Lighting: Make Bubbles Visible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85100" y="1375100"/>
            <a:ext cx="5669400" cy="28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Controlled backlighting / dark background for high contrast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Fixed geometry: camera + tube/syringe + shroud to kill clutter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table exposure and repeatable ROI</a:t>
            </a:r>
            <a:endParaRPr b="0" i="0" sz="1800" u="none" cap="none" strike="noStrike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Black background created the cleanest training + inference domain</a:t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704763" y="4158450"/>
            <a:ext cx="4434900" cy="1830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7704763" y="388413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tube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9716443" y="4085298"/>
            <a:ext cx="237600" cy="237600"/>
          </a:xfrm>
          <a:prstGeom prst="ellipse">
            <a:avLst/>
          </a:prstGeom>
          <a:solidFill>
            <a:srgbClr val="2CB9B1"/>
          </a:solidFill>
          <a:ln cap="flat" cmpd="sng" w="12700">
            <a:solidFill>
              <a:srgbClr val="2CB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10447963" y="4085298"/>
            <a:ext cx="164700" cy="164700"/>
          </a:xfrm>
          <a:prstGeom prst="ellipse">
            <a:avLst/>
          </a:prstGeom>
          <a:solidFill>
            <a:srgbClr val="2CB9B1"/>
          </a:solidFill>
          <a:ln cap="flat" cmpd="sng" w="12700">
            <a:solidFill>
              <a:srgbClr val="2CB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9030643" y="4085298"/>
            <a:ext cx="128100" cy="128100"/>
          </a:xfrm>
          <a:prstGeom prst="ellipse">
            <a:avLst/>
          </a:prstGeom>
          <a:solidFill>
            <a:srgbClr val="2CB9B1"/>
          </a:solidFill>
          <a:ln cap="flat" cmpd="sng" w="12700">
            <a:solidFill>
              <a:srgbClr val="2CB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8756323" y="4615650"/>
            <a:ext cx="548700" cy="640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8344843" y="5228298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backlight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1362363" y="3975570"/>
            <a:ext cx="731400" cy="411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8184" y="359023"/>
            <a:ext cx="3568120" cy="26761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/>
          <p:nvPr/>
        </p:nvSpPr>
        <p:spPr>
          <a:xfrm>
            <a:off x="8231876" y="3094525"/>
            <a:ext cx="3380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Fig 4. Camera connected to raspi 5 for live CNN running on syringe bubbles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975" y="4085300"/>
            <a:ext cx="2078100" cy="20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6300" y="4085300"/>
            <a:ext cx="2078100" cy="20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6963" y="4085300"/>
            <a:ext cx="2078100" cy="20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 rot="-5400000">
            <a:off x="2382938" y="4951100"/>
            <a:ext cx="364500" cy="346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 rot="-5400000">
            <a:off x="4928438" y="4951100"/>
            <a:ext cx="364500" cy="346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2041250" y="6069425"/>
            <a:ext cx="35682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Fig 5. Lighting progression of physical setup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01850" y="3592700"/>
            <a:ext cx="23991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Light On, White Background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2729425" y="3592700"/>
            <a:ext cx="23991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Light On, Black Background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217100" y="3592700"/>
            <a:ext cx="23991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Light Off, Black Background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685800" y="502920"/>
            <a:ext cx="777240" cy="73152"/>
          </a:xfrm>
          <a:prstGeom prst="rect">
            <a:avLst/>
          </a:prstGeom>
          <a:solidFill>
            <a:srgbClr val="2CB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1508760" y="502920"/>
            <a:ext cx="3200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85800" y="603504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Dataset (Real Recorded Syringe Videos)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31520" y="1600200"/>
            <a:ext cx="4023360" cy="1645920"/>
          </a:xfrm>
          <a:prstGeom prst="roundRect">
            <a:avLst>
              <a:gd fmla="val 16667" name="adj"/>
            </a:avLst>
          </a:prstGeom>
          <a:solidFill>
            <a:srgbClr val="E8F7F6"/>
          </a:solidFill>
          <a:ln cap="flat" cmpd="sng" w="12700">
            <a:solidFill>
              <a:srgbClr val="BFEDE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960120" y="1764792"/>
            <a:ext cx="356616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 controlled videos: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AIH_Bubbles.mp4 (190 frames)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AIH_Bubbles2.mp4 (282 frames)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AIH_Bubbles3.mp4 (183 frames)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31520" y="3429000"/>
            <a:ext cx="4023360" cy="1417320"/>
          </a:xfrm>
          <a:prstGeom prst="roundRect">
            <a:avLst>
              <a:gd fmla="val 16667" name="adj"/>
            </a:avLst>
          </a:prstGeom>
          <a:solidFill>
            <a:srgbClr val="E8F7F6"/>
          </a:solidFill>
          <a:ln cap="flat" cmpd="sng" w="12700">
            <a:solidFill>
              <a:srgbClr val="BFEDE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960120" y="3593592"/>
            <a:ext cx="3566160" cy="1088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Total: 9,344 image–mask pairs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8,070 manual masks (ground truth)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1,274 auto-masks (bootstrapped)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user-lTafMRROz0R1P8MYMLDKHkKz/a209a25df1ea486cac1d811ebc2e8be7/mnt/data/img_manual_mask.png" id="122" name="Google Shape;122;p6"/>
          <p:cNvPicPr preferRelativeResize="0"/>
          <p:nvPr/>
        </p:nvPicPr>
        <p:blipFill rotWithShape="1">
          <a:blip r:embed="rId3">
            <a:alphaModFix/>
          </a:blip>
          <a:srcRect b="0" l="35015" r="17595" t="0"/>
          <a:stretch/>
        </p:blipFill>
        <p:spPr>
          <a:xfrm>
            <a:off x="5424749" y="3893716"/>
            <a:ext cx="1943174" cy="173625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5242570" y="5716975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Manual mask correction </a:t>
            </a: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overlay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user-lTafMRROz0R1P8MYMLDKHkKz/a209a25df1ea486cac1d811ebc2e8be7/mnt/data/img_pred_mask3.png" id="124" name="Google Shape;124;p6"/>
          <p:cNvPicPr preferRelativeResize="0"/>
          <p:nvPr/>
        </p:nvPicPr>
        <p:blipFill rotWithShape="1">
          <a:blip r:embed="rId4">
            <a:alphaModFix/>
          </a:blip>
          <a:srcRect b="0" l="36222" r="21431" t="0"/>
          <a:stretch/>
        </p:blipFill>
        <p:spPr>
          <a:xfrm>
            <a:off x="8839400" y="3980708"/>
            <a:ext cx="1943174" cy="1736267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8754255" y="5716975"/>
            <a:ext cx="338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CNN predicted mask </a:t>
            </a: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overlay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242570" y="5929225"/>
            <a:ext cx="6949500" cy="10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Manual masks mark full bubble volume (not just highlights)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Auto-masks speed iteration and expand coverage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39405" y="1451597"/>
            <a:ext cx="1943165" cy="19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4750" y="1451563"/>
            <a:ext cx="1943174" cy="194320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/>
          <p:nvPr/>
        </p:nvSpPr>
        <p:spPr>
          <a:xfrm>
            <a:off x="5325245" y="34721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OpenCV auto mask segmentation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8904685" y="3472100"/>
            <a:ext cx="181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Manual mask correction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/>
              <a:t>‹#›</a:t>
            </a:fld>
            <a:endParaRPr b="1"/>
          </a:p>
        </p:txBody>
      </p:sp>
      <p:sp>
        <p:nvSpPr>
          <p:cNvPr id="132" name="Google Shape;132;p6"/>
          <p:cNvSpPr/>
          <p:nvPr/>
        </p:nvSpPr>
        <p:spPr>
          <a:xfrm>
            <a:off x="731545" y="5029200"/>
            <a:ext cx="4023300" cy="1417200"/>
          </a:xfrm>
          <a:prstGeom prst="roundRect">
            <a:avLst>
              <a:gd fmla="val 16667" name="adj"/>
            </a:avLst>
          </a:prstGeom>
          <a:solidFill>
            <a:srgbClr val="E8F7F6"/>
          </a:solidFill>
          <a:ln cap="flat" cmpd="sng" w="12700">
            <a:solidFill>
              <a:srgbClr val="BFEDE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960145" y="5193792"/>
            <a:ext cx="35661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We generate multiple crops per frame → 9,344 training samples from 3 videos.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16b3e354b_1_15"/>
          <p:cNvSpPr/>
          <p:nvPr/>
        </p:nvSpPr>
        <p:spPr>
          <a:xfrm>
            <a:off x="685800" y="502920"/>
            <a:ext cx="777300" cy="73200"/>
          </a:xfrm>
          <a:prstGeom prst="rect">
            <a:avLst/>
          </a:prstGeom>
          <a:solidFill>
            <a:srgbClr val="2CB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b16b3e354b_1_15"/>
          <p:cNvSpPr/>
          <p:nvPr/>
        </p:nvSpPr>
        <p:spPr>
          <a:xfrm>
            <a:off x="1508760" y="502920"/>
            <a:ext cx="320100" cy="73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b16b3e354b_1_15"/>
          <p:cNvSpPr/>
          <p:nvPr/>
        </p:nvSpPr>
        <p:spPr>
          <a:xfrm>
            <a:off x="685800" y="603500"/>
            <a:ext cx="11454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OpenCV Bootstrapping: Pseudo-Labels → Faster CNN Training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b16b3e354b_1_15"/>
          <p:cNvSpPr/>
          <p:nvPr/>
        </p:nvSpPr>
        <p:spPr>
          <a:xfrm>
            <a:off x="731525" y="1600200"/>
            <a:ext cx="4023300" cy="948900"/>
          </a:xfrm>
          <a:prstGeom prst="roundRect">
            <a:avLst>
              <a:gd fmla="val 16667" name="adj"/>
            </a:avLst>
          </a:prstGeom>
          <a:solidFill>
            <a:srgbClr val="E8F7F6"/>
          </a:solidFill>
          <a:ln cap="flat" cmpd="sng" w="12700">
            <a:solidFill>
              <a:srgbClr val="BFEDE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b16b3e354b_1_15"/>
          <p:cNvSpPr/>
          <p:nvPr/>
        </p:nvSpPr>
        <p:spPr>
          <a:xfrm>
            <a:off x="960125" y="1764799"/>
            <a:ext cx="3566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Goal: scale labeled data without hand-masking every frame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b16b3e354b_1_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/>
              <a:t>‹#›</a:t>
            </a:fld>
            <a:endParaRPr b="1"/>
          </a:p>
        </p:txBody>
      </p:sp>
      <p:pic>
        <p:nvPicPr>
          <p:cNvPr id="145" name="Google Shape;145;g3b16b3e354b_1_15" title="slide8_autolabel_graph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0175" y="1400775"/>
            <a:ext cx="5969100" cy="477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b16b3e354b_1_15"/>
          <p:cNvSpPr/>
          <p:nvPr/>
        </p:nvSpPr>
        <p:spPr>
          <a:xfrm>
            <a:off x="731525" y="2813450"/>
            <a:ext cx="4023300" cy="948900"/>
          </a:xfrm>
          <a:prstGeom prst="roundRect">
            <a:avLst>
              <a:gd fmla="val 16667" name="adj"/>
            </a:avLst>
          </a:prstGeom>
          <a:solidFill>
            <a:srgbClr val="E8F7F6"/>
          </a:solidFill>
          <a:ln cap="flat" cmpd="sng" w="12700">
            <a:solidFill>
              <a:srgbClr val="BFEDE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b16b3e354b_1_15"/>
          <p:cNvSpPr/>
          <p:nvPr/>
        </p:nvSpPr>
        <p:spPr>
          <a:xfrm>
            <a:off x="960125" y="2978049"/>
            <a:ext cx="3566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CV pipeline: (1) isolate syringe ROI → (2) threshold bright regions → (3) keep bubble-like blobs (circularity filter)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b16b3e354b_1_15"/>
          <p:cNvSpPr/>
          <p:nvPr/>
        </p:nvSpPr>
        <p:spPr>
          <a:xfrm>
            <a:off x="731525" y="4026700"/>
            <a:ext cx="4023300" cy="948900"/>
          </a:xfrm>
          <a:prstGeom prst="roundRect">
            <a:avLst>
              <a:gd fmla="val 16667" name="adj"/>
            </a:avLst>
          </a:prstGeom>
          <a:solidFill>
            <a:srgbClr val="E8F7F6"/>
          </a:solidFill>
          <a:ln cap="flat" cmpd="sng" w="12700">
            <a:solidFill>
              <a:srgbClr val="BFEDE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b16b3e354b_1_15"/>
          <p:cNvSpPr/>
          <p:nvPr/>
        </p:nvSpPr>
        <p:spPr>
          <a:xfrm>
            <a:off x="960125" y="4191299"/>
            <a:ext cx="3566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Output: 1,274 pseudo-masked samples from Bubbles3 used to expand coverage quickly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b16b3e354b_1_15"/>
          <p:cNvSpPr/>
          <p:nvPr/>
        </p:nvSpPr>
        <p:spPr>
          <a:xfrm>
            <a:off x="731525" y="5227150"/>
            <a:ext cx="4023300" cy="948900"/>
          </a:xfrm>
          <a:prstGeom prst="roundRect">
            <a:avLst>
              <a:gd fmla="val 16667" name="adj"/>
            </a:avLst>
          </a:prstGeom>
          <a:solidFill>
            <a:srgbClr val="E8F7F6"/>
          </a:solidFill>
          <a:ln cap="flat" cmpd="sng" w="12700">
            <a:solidFill>
              <a:srgbClr val="BFEDE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b16b3e354b_1_15"/>
          <p:cNvSpPr/>
          <p:nvPr/>
        </p:nvSpPr>
        <p:spPr>
          <a:xfrm>
            <a:off x="960125" y="5391749"/>
            <a:ext cx="3566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Key limitation: reflections + syringe markings can create false positives → CNN is needed for robustness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/>
          <p:nvPr/>
        </p:nvSpPr>
        <p:spPr>
          <a:xfrm>
            <a:off x="685800" y="502920"/>
            <a:ext cx="777240" cy="73152"/>
          </a:xfrm>
          <a:prstGeom prst="rect">
            <a:avLst/>
          </a:prstGeom>
          <a:solidFill>
            <a:srgbClr val="2CB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1508760" y="502920"/>
            <a:ext cx="3200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685800" y="603504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CNN Segmentation (SmallUNet) + Training Recipe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777250" y="1645927"/>
            <a:ext cx="6400800" cy="25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Architecture: </a:t>
            </a: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Small U-Net-like encoder/decoder with skip connections (~233K params)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ing:</a:t>
            </a: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256×256 crops with weighted sampling (5× / 3× / 1×)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Loss: Focal Loss (α=0.25, γ=2.0) for extreme class imbalance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Augmentations: random crops, flips/rotations, color jitter/brightness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Training on Apple M1 (MPS); early stop at epoch 36/100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777240" y="5715000"/>
            <a:ext cx="6400800" cy="868680"/>
          </a:xfrm>
          <a:prstGeom prst="roundRect">
            <a:avLst>
              <a:gd fmla="val 16667" name="adj"/>
            </a:avLst>
          </a:prstGeom>
          <a:solidFill>
            <a:srgbClr val="E8F7F6"/>
          </a:solidFill>
          <a:ln cap="flat" cmpd="sng" w="12700">
            <a:solidFill>
              <a:srgbClr val="BFEDE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1005840" y="5879592"/>
            <a:ext cx="5943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Validation vs manual GT: </a:t>
            </a:r>
            <a:r>
              <a:rPr lang="en-US" sz="15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Pixel Dice is modest due to full-volume labels + refraction; system-level counting accuracy is the real KPI.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4" name="Google Shape;16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9775" y="1855096"/>
            <a:ext cx="4300225" cy="33846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5" name="Google Shape;165;p8"/>
          <p:cNvSpPr/>
          <p:nvPr/>
        </p:nvSpPr>
        <p:spPr>
          <a:xfrm>
            <a:off x="7789387" y="5047300"/>
            <a:ext cx="39210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Fig 5. Snippet of quantized int8 UNET 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685800" y="502920"/>
            <a:ext cx="777240" cy="73152"/>
          </a:xfrm>
          <a:prstGeom prst="rect">
            <a:avLst/>
          </a:prstGeom>
          <a:solidFill>
            <a:srgbClr val="2CB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1508760" y="502920"/>
            <a:ext cx="3200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685800" y="603504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Key Insight: Raw CNN Output ≠ Reliable Detections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777240" y="1600200"/>
            <a:ext cx="63093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On Bubbles3 (black background), masks closely match manual labels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On Bubbles1/2, generalizes reasonably but needs heavy postprocess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Temporal filtering is essential: motion tracking removes static glare/artifacts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7315200" y="16002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False Positive Rate drops with stabilization (Bubbles3)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6" name="Google Shape;176;p9"/>
          <p:cNvGraphicFramePr/>
          <p:nvPr/>
        </p:nvGraphicFramePr>
        <p:xfrm>
          <a:off x="7223760" y="1965960"/>
          <a:ext cx="4800600" cy="37490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77" name="Google Shape;177;p9"/>
          <p:cNvSpPr/>
          <p:nvPr/>
        </p:nvSpPr>
        <p:spPr>
          <a:xfrm>
            <a:off x="777240" y="5715000"/>
            <a:ext cx="11247120" cy="868680"/>
          </a:xfrm>
          <a:prstGeom prst="roundRect">
            <a:avLst>
              <a:gd fmla="val 16667" name="adj"/>
            </a:avLst>
          </a:prstGeom>
          <a:solidFill>
            <a:srgbClr val="E8F7F6"/>
          </a:solidFill>
          <a:ln cap="flat" cmpd="sng" w="12700">
            <a:solidFill>
              <a:srgbClr val="BFEDE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1005840" y="5879592"/>
            <a:ext cx="1078992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Postprocess reduced FP by ~91% (95.1% → ~5%)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/>
          <p:nvPr/>
        </p:nvSpPr>
        <p:spPr>
          <a:xfrm>
            <a:off x="685800" y="502920"/>
            <a:ext cx="777240" cy="73152"/>
          </a:xfrm>
          <a:prstGeom prst="rect">
            <a:avLst/>
          </a:prstGeom>
          <a:solidFill>
            <a:srgbClr val="2CB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1508760" y="502920"/>
            <a:ext cx="3200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685800" y="603504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Post Processing</a:t>
            </a:r>
            <a:r>
              <a:rPr b="1" i="0" lang="en-US" sz="3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Pipeline (What Makes It Stable)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327200" y="1600200"/>
            <a:ext cx="6681000" cy="1571700"/>
          </a:xfrm>
          <a:prstGeom prst="roundRect">
            <a:avLst>
              <a:gd fmla="val 16667" name="adj"/>
            </a:avLst>
          </a:prstGeom>
          <a:solidFill>
            <a:srgbClr val="E8F7F6"/>
          </a:solidFill>
          <a:ln cap="flat" cmpd="sng" w="12700">
            <a:solidFill>
              <a:srgbClr val="BFEDE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327200" y="4906225"/>
            <a:ext cx="6681000" cy="1812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2700">
            <a:solidFill>
              <a:srgbClr val="BFEDE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327200" y="3236125"/>
            <a:ext cx="6681000" cy="16119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12700">
            <a:solidFill>
              <a:srgbClr val="BFEDE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353000" y="1683800"/>
            <a:ext cx="6462000" cy="47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Stage A) Suppress known junk</a:t>
            </a:r>
            <a:b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ROI Mask: 256×256 tiles, stride 128 (stitch probability map)</a:t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Static Junk Mask: Static variance filter: low variance (&lt;10) → reject stuck detections</a:t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Stage B) Make blobs “bubble-like”</a:t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Morpholog</a:t>
            </a: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y close + fill </a:t>
            </a: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holes: 15px elliptical dilation to merge refractive clusters</a:t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Connected components: group contours into bubble instances</a:t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Stage C) Reject non-bubbles</a:t>
            </a:r>
            <a:b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•Ellipse/shape filters (circularity/solidity/axis-size): min area 3000 px; exclude top 15% zone</a:t>
            </a:r>
            <a:b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•Distance-to-edge gating (avoid syringe walls)</a:t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3" name="Google Shape;193;p10" title="post_processing_segmentat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5350" y="2428600"/>
            <a:ext cx="4404677" cy="247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/>
          <p:nvPr/>
        </p:nvSpPr>
        <p:spPr>
          <a:xfrm>
            <a:off x="685800" y="502920"/>
            <a:ext cx="777240" cy="73152"/>
          </a:xfrm>
          <a:prstGeom prst="rect">
            <a:avLst/>
          </a:prstGeom>
          <a:solidFill>
            <a:srgbClr val="2CB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1508760" y="502920"/>
            <a:ext cx="3200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685800" y="603504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Final Validation Across All Real Videos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777278" y="1377698"/>
            <a:ext cx="1828800" cy="4389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850429" y="1487425"/>
            <a:ext cx="168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2606078" y="1377698"/>
            <a:ext cx="914400" cy="4389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2679238" y="1436813"/>
            <a:ext cx="7680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Frames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3520478" y="1377698"/>
            <a:ext cx="1005900" cy="4389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3538763" y="1436813"/>
            <a:ext cx="10059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Detections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4526318" y="1377698"/>
            <a:ext cx="1005900" cy="4389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4526325" y="1436750"/>
            <a:ext cx="10059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1" i="0" lang="en-US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Avg/Frame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5532158" y="1377698"/>
            <a:ext cx="731400" cy="4389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5531963" y="1396013"/>
            <a:ext cx="731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6263677" y="1377698"/>
            <a:ext cx="731400" cy="4389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6263638" y="1436600"/>
            <a:ext cx="7314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Std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6995198" y="1377698"/>
            <a:ext cx="4937700" cy="4389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7068349" y="1487425"/>
            <a:ext cx="479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GT estimate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777278" y="1816610"/>
            <a:ext cx="18288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850429" y="1926338"/>
            <a:ext cx="168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Bubbles.mp4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2606078" y="1816610"/>
            <a:ext cx="9144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2679230" y="1926338"/>
            <a:ext cx="768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190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3520478" y="1816610"/>
            <a:ext cx="10059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3593630" y="1926338"/>
            <a:ext cx="859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4526318" y="1816610"/>
            <a:ext cx="10059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4599470" y="1926338"/>
            <a:ext cx="859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0.04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5532158" y="1816610"/>
            <a:ext cx="7314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5605310" y="1926338"/>
            <a:ext cx="585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6263677" y="1816610"/>
            <a:ext cx="7314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6336830" y="1926338"/>
            <a:ext cx="585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0.19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6995198" y="1816610"/>
            <a:ext cx="49377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7068349" y="1926338"/>
            <a:ext cx="479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Few actual bubbles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777278" y="2255522"/>
            <a:ext cx="18288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850429" y="2365250"/>
            <a:ext cx="168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Bubbles2.mp4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2606078" y="2255522"/>
            <a:ext cx="9144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2679230" y="2365250"/>
            <a:ext cx="768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282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3520478" y="2255522"/>
            <a:ext cx="10059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3593630" y="2365250"/>
            <a:ext cx="859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113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4526318" y="2255522"/>
            <a:ext cx="10059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4599470" y="2365250"/>
            <a:ext cx="859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0.40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5532158" y="2255522"/>
            <a:ext cx="7314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5605310" y="2365250"/>
            <a:ext cx="585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263677" y="2255522"/>
            <a:ext cx="7314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6336830" y="2365250"/>
            <a:ext cx="585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0.59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6995198" y="2255522"/>
            <a:ext cx="49377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7068349" y="2365250"/>
            <a:ext cx="479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Moderate bubbles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777278" y="2694434"/>
            <a:ext cx="18288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850429" y="2804162"/>
            <a:ext cx="168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Bubbles3.mp4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2606078" y="2694434"/>
            <a:ext cx="9144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2679230" y="2804162"/>
            <a:ext cx="768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183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3520478" y="2694434"/>
            <a:ext cx="10059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3593630" y="2804162"/>
            <a:ext cx="859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350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4526318" y="2694434"/>
            <a:ext cx="10059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4599470" y="2804162"/>
            <a:ext cx="859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1.91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5532158" y="2694434"/>
            <a:ext cx="7314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5605310" y="2804162"/>
            <a:ext cx="585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6263677" y="2694434"/>
            <a:ext cx="7314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6336830" y="2804162"/>
            <a:ext cx="585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1.17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6995198" y="2694434"/>
            <a:ext cx="49377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7068349" y="2804162"/>
            <a:ext cx="479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Most bubbles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777278" y="3133346"/>
            <a:ext cx="18288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850429" y="3243074"/>
            <a:ext cx="168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2606078" y="3133346"/>
            <a:ext cx="9144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2679230" y="3243074"/>
            <a:ext cx="768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655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3520478" y="3133346"/>
            <a:ext cx="10059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3593630" y="3243074"/>
            <a:ext cx="859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470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526318" y="3133346"/>
            <a:ext cx="10059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4599470" y="3243074"/>
            <a:ext cx="859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0.72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5532158" y="3133346"/>
            <a:ext cx="7314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5605310" y="3243074"/>
            <a:ext cx="585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6263677" y="3133346"/>
            <a:ext cx="7314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6336830" y="3243074"/>
            <a:ext cx="585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6995198" y="3133346"/>
            <a:ext cx="49377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7068349" y="3243074"/>
            <a:ext cx="479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Validated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777240" y="5897880"/>
            <a:ext cx="11155680" cy="777240"/>
          </a:xfrm>
          <a:prstGeom prst="roundRect">
            <a:avLst>
              <a:gd fmla="val 16667" name="adj"/>
            </a:avLst>
          </a:prstGeom>
          <a:solidFill>
            <a:srgbClr val="E8F7F6"/>
          </a:solidFill>
          <a:ln cap="flat" cmpd="sng" w="12700">
            <a:solidFill>
              <a:srgbClr val="BFEDE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1005840" y="6062472"/>
            <a:ext cx="1069848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Takeaway: counts match qualitative expectations (B1 few, B2 moderate, B3 most)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522188" y="3803053"/>
            <a:ext cx="6629400" cy="20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Ran the same CNN + postprocess pipeline on Raspberry Pi 5 CPU, desktop CPU, and desktop GPU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Benchmarked FP32 vs INT8 end-to-end latency + model 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Verified bubble-count correctness vs manual masks (labeled frames) and on unseen frames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Current demo: Pi camera capture + real-time overlay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"/>
          <p:cNvSpPr/>
          <p:nvPr/>
        </p:nvSpPr>
        <p:spPr>
          <a:xfrm>
            <a:off x="685800" y="502920"/>
            <a:ext cx="777240" cy="73152"/>
          </a:xfrm>
          <a:prstGeom prst="rect">
            <a:avLst/>
          </a:prstGeom>
          <a:solidFill>
            <a:srgbClr val="2CB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1508760" y="502920"/>
            <a:ext cx="3200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685800" y="603504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r>
              <a:rPr b="1" i="0" lang="en-US" sz="3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Benchmarking &amp; Deployment Status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85" name="Google Shape;285;p12"/>
          <p:cNvGraphicFramePr/>
          <p:nvPr/>
        </p:nvGraphicFramePr>
        <p:xfrm>
          <a:off x="1538638" y="1439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{B38D5935-E52F-464B-8744-B34AF1C01012}</a:tableStyleId>
              </a:tblPr>
              <a:tblGrid>
                <a:gridCol w="1543050"/>
                <a:gridCol w="619125"/>
                <a:gridCol w="561975"/>
                <a:gridCol w="1076325"/>
                <a:gridCol w="1276350"/>
                <a:gridCol w="1181100"/>
                <a:gridCol w="1200150"/>
                <a:gridCol w="952500"/>
                <a:gridCol w="6572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Platform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Precision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Threads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Stride (every_n)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Model median (ms)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Core median (ms)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Total median (ms)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Total p95 (ms)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Total FPS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Raspberry Pi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FP32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809.50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897.62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1379.34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2888.28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Raspberry Pi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297.60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398.08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606.70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1514.53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1.65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Desktop CPU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FP32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27.08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31.67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41.87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47.08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23.88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Desktop GPU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FP32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19.34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58.92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Desktop CPU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30.16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30.14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33.18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Desktop GPU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16.22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61.66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86" name="Google Shape;286;p12"/>
          <p:cNvGraphicFramePr/>
          <p:nvPr/>
        </p:nvGraphicFramePr>
        <p:xfrm>
          <a:off x="486475" y="473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{B38D5935-E52F-464B-8744-B34AF1C01012}</a:tableStyleId>
              </a:tblPr>
              <a:tblGrid>
                <a:gridCol w="869750"/>
                <a:gridCol w="1162700"/>
                <a:gridCol w="1321075"/>
                <a:gridCol w="1242050"/>
                <a:gridCol w="1264625"/>
                <a:gridCol w="1998575"/>
                <a:gridCol w="2156675"/>
                <a:gridCol w="453850"/>
                <a:gridCol w="702825"/>
              </a:tblGrid>
              <a:tr h="451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Precision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Dice raw (mean)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Dice post (mean)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IoU raw (mean)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IoU post (mean)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Bubble count |err| (mean)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Bubble count |err| (median)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thr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9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FP32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9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"/>
          <p:cNvSpPr/>
          <p:nvPr/>
        </p:nvSpPr>
        <p:spPr>
          <a:xfrm>
            <a:off x="685800" y="502920"/>
            <a:ext cx="777240" cy="73152"/>
          </a:xfrm>
          <a:prstGeom prst="rect">
            <a:avLst/>
          </a:prstGeom>
          <a:solidFill>
            <a:srgbClr val="2CB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1508760" y="502920"/>
            <a:ext cx="3200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>
            <a:off x="685800" y="603504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Wrap-Up &amp; Next Steps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685800" y="1562875"/>
            <a:ext cx="4329000" cy="43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Working end-to-end pipeline: capture → segmentation → stabilization → bubble counts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Big lesson: temporal filtering is mandatory for reliable deployment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Next: expand labeled real footage; px→mm calibration; void-fraction metrics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3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Next: tighten Pi benchmarking and publish latency/FPS + power numbers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5054750" y="1285125"/>
            <a:ext cx="7015500" cy="4802700"/>
          </a:xfrm>
          <a:prstGeom prst="roundRect">
            <a:avLst>
              <a:gd fmla="val 16667" name="adj"/>
            </a:avLst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>
            <a:off x="5432825" y="1907375"/>
            <a:ext cx="6408900" cy="4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9" name="Google Shape;299;p14" title="AIH_Bubbles_Final_PROCESSED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1526" y="2009687"/>
            <a:ext cx="5961950" cy="335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2025-12-16T19:44:50Z</dcterms:created>
  <dc:creator>TTL AI</dc:creator>
</cp:coreProperties>
</file>